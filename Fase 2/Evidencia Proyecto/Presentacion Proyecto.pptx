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JybSo1SFmMmqP2fiW5sRdU1eB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9D41A8-524E-4E4C-B7D1-AA1578B168D4}">
  <a:tblStyle styleId="{A99D41A8-524E-4E4C-B7D1-AA1578B168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672EB9F-E948-46B7-B4EB-6BF7A7F27AB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69d3fd6d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69d3fd6d3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69d3fd6d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69d3fd6d3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69d3fd6d3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a69d3fd6d3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69d3fd6d3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a69d3fd6d3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Capstone</a:t>
            </a:r>
            <a:br>
              <a:rPr lang="es-CL"/>
            </a:br>
            <a:r>
              <a:rPr lang="es-CL" sz="3200"/>
              <a:t>“Zentria ERP”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133350" y="2269949"/>
            <a:ext cx="6781052" cy="2601203"/>
            <a:chOff x="0" y="0"/>
            <a:chExt cx="6781052" cy="224164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Nicolás Muñoz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Supervisar la dirección del proyecto, documentar y desarrollar código Backend.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E81C9"/>
                </a:gs>
                <a:gs pos="50000">
                  <a:srgbClr val="3B70C9"/>
                </a:gs>
                <a:gs pos="100000">
                  <a:srgbClr val="2E60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Bastián Rojas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Fullstack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Desarrollar código Frontend y Backend cuando fuera necesario, apoyar con documentación.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FC8E3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912075" y="1894925"/>
            <a:ext cx="4696200" cy="47715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plantea el desarrollo de un ERP especializado para empresas dedicadas al reacondicionamiento de equipos computacionales, integrando procesos críticos como inventario, revisiones técnicas, ventas y trazabilidad completa. El objetivo es centralizar la información, reducir errores operativos y apoyar la economía circular mediante una plataforma robusta, modular y adaptada a las particularidades del rubro, incluyendo integración con e-commerce y control jerárquico de organizaciones.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Actualmente no hay sistemas ERP desarrollados </a:t>
            </a:r>
            <a:r>
              <a:rPr lang="es-C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específicamente</a:t>
            </a:r>
            <a:r>
              <a:rPr lang="es-C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el rubro tecnológico de computadores reacondicionados, pensando en que este tipo de ventas/procesos ayudan a reducir la basura tecnológica y darle una segunda vida a los equipos, se propone un ERP que pueda ayudar a estas empresas.</a:t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614525" y="4732399"/>
            <a:ext cx="10962900" cy="184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módulos de gestión operativa: Incorporar mantenedores y flujos que permitan controlar productos, inventario, usuarios, roles y sucursales con procesos estandarizados.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Fortalecer la trazabilidad y el control de stock: Registrar movimientos, estados técnicos y transferencias entre sucursales para mejorar la visibilidad y el control del inventario.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el ERP con sistemas externos: Conectar servicios como e-commerce u otras APIs para mantener sincronizada la información relevante del negocio.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ERP modular y escalable que centralice los procesos clave de empresas dedicadas al reacondicionamiento de equipos computacionales, mejorando la trazabilidad, la organización operativa y la gestión jerárquica.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894225" y="1483250"/>
            <a:ext cx="100728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centraliza la gestión operativa de empresas del rubro tecnológico, permitiendo administrar organizaciones jerárquicas, inventario, productos, revisiones técnicas, ventas, integraciones externas y reportes. Además, ofrece un portal secundario para que clientes-proveedores consulten el estado y trazabilidad de sus equipos consignados.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gestiona procesos contables completos, remuneraciones, recursos humanos ni flujos financieros avanzados. Tampoco reemplaza sistemas tributarios, ni realiza validaciones externas propias del SII u otros servicios estatales.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Alcances o restricciones: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opera bajo una arquitectura modular, depende de una base de datos relacional y requiere conectividad para integraciones externas. La segunda aplicación es de solo lectura y no expone información financiera. La escalabilidad y el uso por múltiples organizaciones están sujetos a la infraestructura disponible.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839475" y="1694325"/>
            <a:ext cx="10435800" cy="4561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R.1: </a:t>
            </a:r>
            <a:r>
              <a:rPr lang="es-CL" sz="1700"/>
              <a:t>Mantenedor de Empresas </a:t>
            </a:r>
            <a:r>
              <a:rPr b="1" lang="es-CL"/>
              <a:t>R.2:</a:t>
            </a:r>
            <a:r>
              <a:rPr lang="es-CL" sz="1700"/>
              <a:t>Mantenedor de Subempresas </a:t>
            </a:r>
            <a:r>
              <a:rPr b="1" lang="es-CL"/>
              <a:t>R.3: </a:t>
            </a:r>
            <a:r>
              <a:rPr lang="es-CL" sz="1700"/>
              <a:t>Mantenedor de Sucursales </a:t>
            </a:r>
            <a:r>
              <a:rPr b="1" lang="es-CL"/>
              <a:t>R.</a:t>
            </a:r>
            <a:r>
              <a:rPr b="1" lang="es-CL"/>
              <a:t>4:</a:t>
            </a:r>
            <a:r>
              <a:rPr lang="es-CL" sz="1700"/>
              <a:t>Mantenedor de Usuarios </a:t>
            </a:r>
            <a:r>
              <a:rPr b="1" lang="es-CL"/>
              <a:t>R.5: </a:t>
            </a:r>
            <a:r>
              <a:rPr lang="es-CL" sz="1700"/>
              <a:t>Mantenedor de Roles y Permisos </a:t>
            </a:r>
            <a:r>
              <a:rPr b="1" lang="es-CL"/>
              <a:t>R.6: </a:t>
            </a:r>
            <a:r>
              <a:rPr lang="es-CL" sz="1700"/>
              <a:t>Mantenedor de Productos </a:t>
            </a:r>
            <a:r>
              <a:rPr b="1" lang="es-CL"/>
              <a:t>R.7: </a:t>
            </a:r>
            <a:r>
              <a:rPr lang="es-CL" sz="1700"/>
              <a:t>Mantenedor de Categorías </a:t>
            </a:r>
            <a:r>
              <a:rPr b="1" lang="es-CL"/>
              <a:t>R.8: </a:t>
            </a:r>
            <a:r>
              <a:rPr lang="es-CL" sz="1700"/>
              <a:t>Mantenedor de Proveedores </a:t>
            </a:r>
            <a:r>
              <a:rPr b="1" lang="es-CL"/>
              <a:t>R.9: </a:t>
            </a:r>
            <a:r>
              <a:rPr lang="es-CL" sz="1700"/>
              <a:t>Mantenedor de Clientes </a:t>
            </a:r>
            <a:r>
              <a:rPr b="1" lang="es-CL"/>
              <a:t>R.10:</a:t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/>
              <a:t>Mantenedor de Bodegas </a:t>
            </a:r>
            <a:r>
              <a:rPr b="1" lang="es-CL"/>
              <a:t>R.11: </a:t>
            </a:r>
            <a:r>
              <a:rPr lang="es-CL" sz="1700"/>
              <a:t>Mantenedor de Parámetros del Sistema </a:t>
            </a:r>
            <a:r>
              <a:rPr b="1" lang="es-CL"/>
              <a:t>R.12: </a:t>
            </a:r>
            <a:r>
              <a:rPr lang="es-CL" sz="1700"/>
              <a:t>Mantenedor de Documentos </a:t>
            </a:r>
            <a:r>
              <a:rPr b="1" lang="es-CL"/>
              <a:t>R.13: </a:t>
            </a:r>
            <a:r>
              <a:rPr lang="es-CL" sz="1700"/>
              <a:t>Mantenedor de Revisiones Técnicas </a:t>
            </a:r>
            <a:r>
              <a:rPr b="1" lang="es-CL"/>
              <a:t>R.14: </a:t>
            </a:r>
            <a:r>
              <a:rPr lang="es-CL" sz="1700"/>
              <a:t>Mantenedor de Stock </a:t>
            </a:r>
            <a:r>
              <a:rPr b="1" lang="es-CL"/>
              <a:t>R.15: </a:t>
            </a:r>
            <a:r>
              <a:rPr lang="es-CL" sz="1700"/>
              <a:t>Mantenedor de Garantías </a:t>
            </a:r>
            <a:r>
              <a:rPr b="1" lang="es-CL"/>
              <a:t>R.16: </a:t>
            </a:r>
            <a:r>
              <a:rPr lang="es-CL" sz="1700"/>
              <a:t>Mantenedor de Personalización de Usuario </a:t>
            </a:r>
            <a:r>
              <a:rPr b="1" lang="es-CL"/>
              <a:t>R.17: </a:t>
            </a:r>
            <a:r>
              <a:rPr lang="es-CL" sz="1700"/>
              <a:t>Mantenedor de Personalización de Sub-Empresa </a:t>
            </a:r>
            <a:r>
              <a:rPr b="1" lang="es-CL"/>
              <a:t>R.18: </a:t>
            </a:r>
            <a:r>
              <a:rPr lang="es-CL" sz="1700"/>
              <a:t>Mantenedor de Integraciones </a:t>
            </a:r>
            <a:r>
              <a:rPr b="1" lang="es-CL"/>
              <a:t>R.19: </a:t>
            </a:r>
            <a:r>
              <a:rPr lang="es-CL" sz="1700"/>
              <a:t>Mantenedor de Invitaciones </a:t>
            </a:r>
            <a:r>
              <a:rPr b="1" lang="es-CL"/>
              <a:t>R.20: </a:t>
            </a:r>
            <a:r>
              <a:rPr lang="es-CL" sz="1700"/>
              <a:t>Autenticación con JWT </a:t>
            </a:r>
            <a:r>
              <a:rPr b="1" lang="es-CL"/>
              <a:t>R.21:</a:t>
            </a:r>
            <a:r>
              <a:rPr lang="es-CL" sz="1700"/>
              <a:t>Roles y permisos jerárquicos </a:t>
            </a:r>
            <a:r>
              <a:rPr b="1" lang="es-CL"/>
              <a:t>R.22: </a:t>
            </a:r>
            <a:r>
              <a:rPr lang="es-CL" sz="1700"/>
              <a:t>Acceso contextual por rol y jerarquía </a:t>
            </a:r>
            <a:r>
              <a:rPr b="1" lang="es-CL"/>
              <a:t>R.23: </a:t>
            </a:r>
            <a:r>
              <a:rPr lang="es-CL" sz="1700"/>
              <a:t>Transferencias entre sucursales </a:t>
            </a:r>
            <a:r>
              <a:rPr b="1" lang="es-CL"/>
              <a:t>R.24: </a:t>
            </a:r>
            <a:r>
              <a:rPr lang="es-CL" sz="1700"/>
              <a:t>Historial de movimientos de </a:t>
            </a:r>
            <a:r>
              <a:rPr lang="es-CL" sz="1700"/>
              <a:t>inventario </a:t>
            </a:r>
            <a:r>
              <a:rPr b="1" lang="es-CL"/>
              <a:t>R.25: </a:t>
            </a:r>
            <a:r>
              <a:rPr lang="es-CL" sz="1700"/>
              <a:t>Gestión de cotizaciones </a:t>
            </a:r>
            <a:r>
              <a:rPr b="1" lang="es-CL"/>
              <a:t>R.26: </a:t>
            </a:r>
            <a:r>
              <a:rPr lang="es-CL" sz="1700"/>
              <a:t>Gestión de ventas </a:t>
            </a:r>
            <a:r>
              <a:rPr b="1" lang="es-CL"/>
              <a:t>R.27: </a:t>
            </a:r>
            <a:r>
              <a:rPr lang="es-CL" sz="1700"/>
              <a:t>Gestión de servicios técnicos y arriendos </a:t>
            </a:r>
            <a:r>
              <a:rPr b="1" lang="es-CL"/>
              <a:t>R.28: </a:t>
            </a:r>
            <a:r>
              <a:rPr lang="es-CL" sz="1700"/>
              <a:t>Integración con WooCommerce (API REST) </a:t>
            </a:r>
            <a:r>
              <a:rPr b="1" lang="es-CL"/>
              <a:t>R.29: </a:t>
            </a:r>
            <a:r>
              <a:rPr lang="es-CL" sz="1700"/>
              <a:t>Sincronizar productos/stock desde WooCommerce: </a:t>
            </a:r>
            <a:r>
              <a:rPr b="1" lang="es-CL"/>
              <a:t>R.30: </a:t>
            </a:r>
            <a:r>
              <a:rPr lang="es-CL" sz="1700"/>
              <a:t>Actualizar stock hacia WooCommerce </a:t>
            </a:r>
            <a:r>
              <a:rPr b="1" lang="es-CL"/>
              <a:t>R.31: </a:t>
            </a:r>
            <a:r>
              <a:rPr lang="es-CL" sz="1700"/>
              <a:t>Importar pedidos desde WooCommerce </a:t>
            </a:r>
            <a:r>
              <a:rPr b="1" lang="es-CL"/>
              <a:t>R.32: </a:t>
            </a:r>
            <a:r>
              <a:rPr lang="es-CL" sz="1700"/>
              <a:t>Reportes por módulo </a:t>
            </a:r>
            <a:r>
              <a:rPr b="1" lang="es-CL"/>
              <a:t>R.33: </a:t>
            </a:r>
            <a:r>
              <a:rPr lang="es-CL" sz="1700"/>
              <a:t>Exportación de reportes (PDF/XLS) </a:t>
            </a:r>
            <a:r>
              <a:rPr b="1" lang="es-CL"/>
              <a:t>R.34: </a:t>
            </a:r>
            <a:r>
              <a:rPr lang="es-CL" sz="1700"/>
              <a:t>Filtros en reportes </a:t>
            </a:r>
            <a:r>
              <a:rPr b="1" lang="es-CL"/>
              <a:t>R.35: </a:t>
            </a:r>
            <a:r>
              <a:rPr lang="es-CL" sz="1700"/>
              <a:t>Notificaciones al usuario </a:t>
            </a:r>
            <a:r>
              <a:rPr b="1" lang="es-CL"/>
              <a:t>R.36: </a:t>
            </a:r>
            <a:r>
              <a:rPr lang="es-CL" sz="1700"/>
              <a:t>Validaciones en formularios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948344" y="1988457"/>
            <a:ext cx="10314742" cy="422365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/>
              <a:t>R.47: </a:t>
            </a:r>
            <a:r>
              <a:rPr lang="es-CL" sz="2100"/>
              <a:t>Arquitectura en capas (MVC + Services + Repositories) </a:t>
            </a:r>
            <a:r>
              <a:rPr b="1" lang="es-CL" sz="1800"/>
              <a:t>R.48</a:t>
            </a:r>
            <a:r>
              <a:rPr lang="es-CL" sz="2100"/>
              <a:t>: Programación orientada a objetos </a:t>
            </a:r>
            <a:r>
              <a:rPr b="1" lang="es-CL" sz="1800"/>
              <a:t>R.49: </a:t>
            </a:r>
            <a:r>
              <a:rPr lang="es-CL" sz="2100"/>
              <a:t>Base de datos relacional </a:t>
            </a:r>
            <a:r>
              <a:rPr b="1" lang="es-CL" sz="1800"/>
              <a:t>R.50: </a:t>
            </a:r>
            <a:r>
              <a:rPr lang="es-CL" sz="2100"/>
              <a:t>Versionamiento y CI </a:t>
            </a:r>
            <a:r>
              <a:rPr b="1" lang="es-CL" sz="1800"/>
              <a:t>R.51</a:t>
            </a:r>
            <a:r>
              <a:rPr b="1" lang="es-CL" sz="1900"/>
              <a:t>: </a:t>
            </a:r>
            <a:r>
              <a:rPr lang="es-CL" sz="2100"/>
              <a:t>Hash seguro de contraseñas </a:t>
            </a:r>
            <a:r>
              <a:rPr b="1" lang="es-CL" sz="1800"/>
              <a:t>R.52:</a:t>
            </a:r>
            <a:r>
              <a:rPr lang="es-CL" sz="2100"/>
              <a:t> Expiración de sesiones </a:t>
            </a:r>
            <a:r>
              <a:rPr b="1" lang="es-CL" sz="1800"/>
              <a:t>R.53: </a:t>
            </a:r>
            <a:r>
              <a:rPr lang="es-CL" sz="2100"/>
              <a:t>Control de acceso por rol/acción </a:t>
            </a:r>
            <a:r>
              <a:rPr b="1" lang="es-CL" sz="1800"/>
              <a:t>R.54: </a:t>
            </a:r>
            <a:r>
              <a:rPr lang="es-CL" sz="2100"/>
              <a:t>Comunicación cifrada (HTTPS) </a:t>
            </a:r>
            <a:r>
              <a:rPr b="1" lang="es-CL" sz="1800"/>
              <a:t>R.55: </a:t>
            </a:r>
            <a:r>
              <a:rPr lang="es-CL" sz="2100"/>
              <a:t>Diseño responsivo </a:t>
            </a:r>
            <a:r>
              <a:rPr b="1" lang="es-CL" sz="1800"/>
              <a:t>R.56: </a:t>
            </a:r>
            <a:r>
              <a:rPr lang="es-CL" sz="2100"/>
              <a:t>Interfaz simple y accesible </a:t>
            </a:r>
            <a:r>
              <a:rPr b="1" lang="es-CL" sz="1800"/>
              <a:t>R.57: </a:t>
            </a:r>
            <a:r>
              <a:rPr lang="es-CL" sz="2100"/>
              <a:t>Usuarios concurrentes mínimos </a:t>
            </a:r>
            <a:r>
              <a:rPr b="1" lang="es-CL" sz="1800"/>
              <a:t>R.58: </a:t>
            </a:r>
            <a:r>
              <a:rPr lang="es-CL" sz="2100"/>
              <a:t>Escalabilidad horizontal </a:t>
            </a:r>
            <a:r>
              <a:rPr b="1" lang="es-CL" sz="1800"/>
              <a:t>R.59: </a:t>
            </a:r>
            <a:r>
              <a:rPr lang="es-CL" sz="2100"/>
              <a:t>Modularidad para nuevos módulos </a:t>
            </a:r>
            <a:r>
              <a:rPr b="1" lang="es-CL" sz="1800"/>
              <a:t>R.60: </a:t>
            </a:r>
            <a:r>
              <a:rPr lang="es-CL" sz="2100"/>
              <a:t>Servicios de integración desacoplados </a:t>
            </a:r>
            <a:r>
              <a:rPr b="1" lang="es-CL" sz="1800"/>
              <a:t>R.61: </a:t>
            </a:r>
            <a:r>
              <a:rPr lang="es-CL" sz="2100"/>
              <a:t>Configuraciones modificables </a:t>
            </a:r>
            <a:r>
              <a:rPr b="1" lang="es-CL" sz="1800"/>
              <a:t>R.62: </a:t>
            </a:r>
            <a:r>
              <a:rPr lang="es-CL" sz="2100"/>
              <a:t>Logging y trazabilidad </a:t>
            </a:r>
            <a:r>
              <a:rPr b="1" lang="es-CL" sz="1800"/>
              <a:t>R.63: </a:t>
            </a:r>
            <a:r>
              <a:rPr lang="es-CL" sz="2100"/>
              <a:t>Portal responsivo </a:t>
            </a:r>
            <a:r>
              <a:rPr b="1" lang="es-CL" sz="1800"/>
              <a:t>R.64: </a:t>
            </a:r>
            <a:r>
              <a:rPr lang="es-CL" sz="2100"/>
              <a:t>API segura para portal </a:t>
            </a:r>
            <a:r>
              <a:rPr b="1" lang="es-CL" sz="1800"/>
              <a:t>R.65: </a:t>
            </a:r>
            <a:r>
              <a:rPr lang="es-CL" sz="2100"/>
              <a:t>Interfaz del portal para usuarios no técnicos </a:t>
            </a:r>
            <a:r>
              <a:rPr b="1" lang="es-CL" sz="1800"/>
              <a:t>R.66: </a:t>
            </a:r>
            <a:r>
              <a:rPr lang="es-CL" sz="2100"/>
              <a:t>Ocultamiento de información financiera en portal </a:t>
            </a:r>
            <a:r>
              <a:rPr b="1" lang="es-CL" sz="1800"/>
              <a:t>R.67: </a:t>
            </a:r>
            <a:r>
              <a:rPr lang="es-CL" sz="2100"/>
              <a:t>Logs de accesos y consultas en portal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>
            <p:ph type="title"/>
          </p:nvPr>
        </p:nvSpPr>
        <p:spPr>
          <a:xfrm>
            <a:off x="841416" y="1054443"/>
            <a:ext cx="10515600" cy="723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Sistema: Pagos y cotizaciones</a:t>
            </a:r>
            <a:endParaRPr/>
          </a:p>
        </p:txBody>
      </p:sp>
      <p:pic>
        <p:nvPicPr>
          <p:cNvPr id="137" name="Google Shape;137;p8" title="cotizaciones y vent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75" y="1740625"/>
            <a:ext cx="11834051" cy="50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69d3fd6d3_1_15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 - Revisiones y Garantías</a:t>
            </a:r>
            <a:endParaRPr/>
          </a:p>
        </p:txBody>
      </p:sp>
      <p:pic>
        <p:nvPicPr>
          <p:cNvPr id="143" name="Google Shape;143;g3a69d3fd6d3_1_15" title="garantia - revisiones - product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9125" y="1589300"/>
            <a:ext cx="5939099" cy="496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69d3fd6d3_1_21"/>
          <p:cNvSpPr txBox="1"/>
          <p:nvPr>
            <p:ph type="title"/>
          </p:nvPr>
        </p:nvSpPr>
        <p:spPr>
          <a:xfrm>
            <a:off x="621077" y="90716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 - Inventario y movimientos de inventario</a:t>
            </a:r>
            <a:endParaRPr/>
          </a:p>
        </p:txBody>
      </p:sp>
      <p:pic>
        <p:nvPicPr>
          <p:cNvPr id="149" name="Google Shape;149;g3a69d3fd6d3_1_21" title="movimientos - transferencias inventar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00" y="1649775"/>
            <a:ext cx="11537600" cy="526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9" title="Diagrana Caso de Uso General Zentri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2650"/>
            <a:ext cx="7058524" cy="606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/>
        </p:nvSpPr>
        <p:spPr>
          <a:xfrm>
            <a:off x="7339250" y="1772200"/>
            <a:ext cx="475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caso de uso general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https://drive.google.com/file/d/1phoqiNTcNdGlhit4czHJJjkQleODBnsL/view?usp=drive_link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663024" y="937883"/>
            <a:ext cx="10515600" cy="636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61" name="Google Shape;161;p10"/>
          <p:cNvSpPr txBox="1"/>
          <p:nvPr/>
        </p:nvSpPr>
        <p:spPr>
          <a:xfrm>
            <a:off x="663025" y="1676400"/>
            <a:ext cx="53175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 Patrón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Arquitectónico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REST con MVC por capas.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 SPA + Arquitectura basada en componentes + Estado global con RTK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2975" y="1473950"/>
            <a:ext cx="6223601" cy="52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1" title="DA_CasoUso_31_ImportarPedidos_DesdeWo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43875"/>
            <a:ext cx="4965350" cy="611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 txBox="1"/>
          <p:nvPr/>
        </p:nvSpPr>
        <p:spPr>
          <a:xfrm>
            <a:off x="5998125" y="2624425"/>
            <a:ext cx="5317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actividad 31: Importar pedidos desde Woo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https://drive.google.com/file/d/13b6L1Yq549p1amWOWrlCQ9ZQQMxqnHQR/view?usp=drive_link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g3a69d3fd6d3_1_37" title="DA_CasoUso_6.1_CrearProduc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0700"/>
            <a:ext cx="4150901" cy="629729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a69d3fd6d3_1_37"/>
          <p:cNvSpPr txBox="1"/>
          <p:nvPr/>
        </p:nvSpPr>
        <p:spPr>
          <a:xfrm>
            <a:off x="5998125" y="2624425"/>
            <a:ext cx="531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actividad 6.1: Crear Producto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https://drive.google.com/file/d/1oKJOEFf6pskdwSiKrmY2VYs5tEElTr3m/view?usp=drive_link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a69d3fd6d3_1_41" title="DA_CasoUso_13.1_CrearRevisionTecnic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25" y="836125"/>
            <a:ext cx="5456149" cy="61421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a69d3fd6d3_1_41"/>
          <p:cNvSpPr txBox="1"/>
          <p:nvPr/>
        </p:nvSpPr>
        <p:spPr>
          <a:xfrm>
            <a:off x="6369100" y="2093025"/>
            <a:ext cx="5317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actividad 13.1: Crear Revisión técnica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https://drive.google.com/file/d/18EmSzaRS8drw2vrskHFcbFRxqTte2F-F/view?usp=drive_link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86" name="Google Shape;186;p12"/>
          <p:cNvSpPr txBox="1"/>
          <p:nvPr/>
        </p:nvSpPr>
        <p:spPr>
          <a:xfrm>
            <a:off x="641252" y="1828016"/>
            <a:ext cx="108612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– React 18 + TypeScript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utilizó React 18 con TypeScript para construir vistas dinámicas, seguras y escalables. Esta combinación permite tipado estricto, componentes reutilizables y una interfaz responsiva que se adapta a las necesidades de cada perfil de usuario.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– Laravel 12 con Docker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backend fue desarrollado en Laravel 12, asegurando una arquitectura sólida, mantenible y orientada a objetos. El uso de Docker facilitó un entorno de desarrollo consistente entre equipos, reduciendo tiempos de configuración y permitiendo una ejecución más estable del sistema.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p13"/>
          <p:cNvGraphicFramePr/>
          <p:nvPr/>
        </p:nvGraphicFramePr>
        <p:xfrm>
          <a:off x="129700" y="96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{A99D41A8-524E-4E4C-B7D1-AA1578B168D4}</a:tableStyleId>
              </a:tblPr>
              <a:tblGrid>
                <a:gridCol w="2162225"/>
                <a:gridCol w="3799025"/>
                <a:gridCol w="2788625"/>
                <a:gridCol w="3192800"/>
              </a:tblGrid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/>
                        <a:t>Semanas</a:t>
                      </a:r>
                      <a:endParaRPr b="1" sz="11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/>
                        <a:t>Fase / Actividad</a:t>
                      </a:r>
                      <a:endParaRPr b="1" sz="11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/>
                        <a:t>Fecha Estimada</a:t>
                      </a:r>
                      <a:endParaRPr b="1" sz="11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/>
                        <a:t>Entregable / Hito</a:t>
                      </a:r>
                      <a:endParaRPr b="1" sz="11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inicio del proyecto y planificación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JP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Acta de proyecto, planificación inicial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2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Definición de requerimientos y análisis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JP / DFS1 / DFS2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ERS preliminar, matriz de requisitos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3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Diseño técnico: arquitectura, diagramas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DFS1 / DFS2 / DG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Diseño técnico, UML, wireframes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4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Diseño de interfaz y estructura base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DG / DFS1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Prototipos de interfaz, estructura MVC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5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Desarrollo backend: autenticación y usuarios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DFS1 / DFS2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Módulo de login y gestión de usuarios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6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Desarrollo backend: roles y jerarquías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DFS1 / DFS2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Módulo de roles y estructura organizacional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7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Desarrollo backend: productos e inventario	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DFS1 / DFS2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Módulo de productos y stock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8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Desarrollo backend: transferencias y trazabilidad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DFS1 / DFS2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Módulo de transferencias entre sucursales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9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Desarrollo frontend: interfaz responsiva	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DFS1 / DG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Interfaz web funcional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10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Desarrollo frontend: validaciones y navegación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DFS1 / DG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Formularios validados, navegación completa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11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Integración de frontend con backend	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DFS1 / DFS2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Sistema funcional con conexión completa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12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Integración externa con WooCommerce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DFS2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Sincronización de productos y pedidos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13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Reportes y exportaciones PDF/XLS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DFS2 / QA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Módulo de reportes dinámicos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14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Implementación de seguridad y control de acceso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DFS2 / QA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JWT, HTTPS, roles y permisos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15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Pruebas unitarias y funcionales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QA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Informe de pruebas, validación de módulos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16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Documentación técnica y manual de usuario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QA / JP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Manual de usuario, documentación final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Semana 17</a:t>
                      </a:r>
                      <a:endParaRPr sz="1000"/>
                    </a:p>
                  </a:txBody>
                  <a:tcPr marT="0" marB="0" marR="63500" marL="63500">
                    <a:lnL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Presentación final y entrega del proyecto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Todo el equipo	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Demo funcional, presentación final</a:t>
                      </a:r>
                      <a:endParaRPr sz="1000"/>
                    </a:p>
                  </a:txBody>
                  <a:tcPr marT="0" marB="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type="title"/>
          </p:nvPr>
        </p:nvSpPr>
        <p:spPr>
          <a:xfrm>
            <a:off x="710252" y="775322"/>
            <a:ext cx="10515600" cy="1118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graphicFrame>
        <p:nvGraphicFramePr>
          <p:cNvPr id="197" name="Google Shape;197;p14"/>
          <p:cNvGraphicFramePr/>
          <p:nvPr/>
        </p:nvGraphicFramePr>
        <p:xfrm>
          <a:off x="616325" y="189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{6672EB9F-E948-46B7-B4EB-6BF7A7F27ABE}</a:tableStyleId>
              </a:tblPr>
              <a:tblGrid>
                <a:gridCol w="3578450"/>
                <a:gridCol w="3076200"/>
                <a:gridCol w="3860950"/>
              </a:tblGrid>
              <a:tr h="61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Fase del Proyecto</a:t>
                      </a:r>
                      <a:endParaRPr b="1"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Horas Estimadas</a:t>
                      </a:r>
                      <a:endParaRPr b="1"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Costo Estimado (CLP)</a:t>
                      </a:r>
                      <a:endParaRPr b="1"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EFF"/>
                    </a:solidFill>
                  </a:tcPr>
                </a:tc>
              </a:tr>
              <a:tr h="61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Fase de Planificación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135 horas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$2.106.250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Fase de Análisis y Diseño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152 horas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$2.850.000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Fase de Desarrollo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662 horas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$8.275.000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Fase de Pruebas y QA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182 horas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$1.535.625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Fase de Implementación y Cierre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110 horas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00"/>
                        <a:t>$1.781.562</a:t>
                      </a:r>
                      <a:endParaRPr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Total General</a:t>
                      </a:r>
                      <a:endParaRPr b="1"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1.241 horas</a:t>
                      </a:r>
                      <a:endParaRPr b="1"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300"/>
                        <a:t>$16.548.437</a:t>
                      </a:r>
                      <a:endParaRPr b="1" sz="900"/>
                    </a:p>
                  </a:txBody>
                  <a:tcPr marT="88900" marB="88900" marR="88900" marL="88900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E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/>
        </p:nvSpPr>
        <p:spPr>
          <a:xfrm>
            <a:off x="565108" y="1372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del sistema desarrollado en vivo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